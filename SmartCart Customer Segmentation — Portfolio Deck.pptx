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744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31340"/>
            <a:ext cx="10566400" cy="421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744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31340"/>
            <a:ext cx="10566400" cy="421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FD0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BUSINESS PROBLEM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45540"/>
            <a:ext cx="10883392" cy="585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10"/>
              </a:lnSpc>
              <a:buNone/>
            </a:pPr>
            <a:r>
              <a:rPr lang="en-US" sz="4200" b="1" i="0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SmartCart Customer Segmentation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12800" y="1807210"/>
            <a:ext cx="1088339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8C4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one-size-fits-all marketing to data-driven personas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15975" y="2435225"/>
            <a:ext cx="3414157" cy="1416050"/>
          </a:xfrm>
          <a:prstGeom prst="roundRect">
            <a:avLst>
              <a:gd name="adj" fmla="val 6951"/>
            </a:avLst>
          </a:prstGeom>
          <a:solidFill>
            <a:srgbClr val="18283F"/>
          </a:solidFill>
          <a:ln w="6350">
            <a:solidFill>
              <a:srgbClr val="2B3D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5680" y="2614930"/>
            <a:ext cx="3146389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problem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80262" y="2924810"/>
            <a:ext cx="3054187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Wasted marketing budget</a:t>
            </a:r>
            <a:endParaRPr lang="en-US" sz="1400" dirty="0"/>
          </a:p>
          <a:p>
            <a:pPr algn="l" marL="169418" indent="-1694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VIP churn</a:t>
            </a:r>
            <a:endParaRPr lang="en-US" sz="1400" dirty="0"/>
          </a:p>
          <a:p>
            <a:pPr algn="l" marL="169418" indent="-1694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conversion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8882" y="2435225"/>
            <a:ext cx="3414236" cy="1416050"/>
          </a:xfrm>
          <a:prstGeom prst="roundRect">
            <a:avLst>
              <a:gd name="adj" fmla="val 6951"/>
            </a:avLst>
          </a:prstGeom>
          <a:solidFill>
            <a:srgbClr val="18283F"/>
          </a:solidFill>
          <a:ln w="6350">
            <a:solidFill>
              <a:srgbClr val="2B3D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587" y="2614930"/>
            <a:ext cx="3146471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translation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53169" y="2924810"/>
            <a:ext cx="3054269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Unsupervised clustering</a:t>
            </a:r>
            <a:endParaRPr lang="en-US" sz="1400" dirty="0"/>
          </a:p>
          <a:p>
            <a:pPr algn="l" marL="169418" indent="-1694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2,240 customers, 22 attributes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61868" y="2435225"/>
            <a:ext cx="3414157" cy="1416050"/>
          </a:xfrm>
          <a:prstGeom prst="roundRect">
            <a:avLst>
              <a:gd name="adj" fmla="val 6951"/>
            </a:avLst>
          </a:prstGeom>
          <a:solidFill>
            <a:srgbClr val="18283F"/>
          </a:solidFill>
          <a:ln w="6350">
            <a:solidFill>
              <a:srgbClr val="2B3D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41574" y="2614930"/>
            <a:ext cx="3146389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6156" y="2924810"/>
            <a:ext cx="3054187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customer personas</a:t>
            </a:r>
            <a:endParaRPr lang="en-US" sz="1400" dirty="0"/>
          </a:p>
          <a:p>
            <a:pPr algn="l" marL="169418" indent="-1694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Strategy, KPIs, A/B plan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4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4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SmartCart Customer Segmentation | 1 / 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7A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 DATA UNDERSTANDING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744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 the data with Python statistics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732915"/>
            <a:ext cx="2520950" cy="1588770"/>
          </a:xfrm>
          <a:prstGeom prst="roundRect">
            <a:avLst>
              <a:gd name="adj" fmla="val 6195"/>
            </a:avLst>
          </a:prstGeom>
          <a:solidFill>
            <a:srgbClr val="18283F"/>
          </a:solidFill>
          <a:ln w="6350">
            <a:solidFill>
              <a:srgbClr val="2B3D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680" y="1912620"/>
            <a:ext cx="222638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dirty="0">
                <a:solidFill>
                  <a:srgbClr val="3FD0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$666,666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95680" y="2352040"/>
            <a:ext cx="222638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4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income (median $51,382)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95675" y="1732915"/>
            <a:ext cx="2520950" cy="1588770"/>
          </a:xfrm>
          <a:prstGeom prst="roundRect">
            <a:avLst>
              <a:gd name="adj" fmla="val 6195"/>
            </a:avLst>
          </a:prstGeom>
          <a:solidFill>
            <a:srgbClr val="18283F"/>
          </a:solidFill>
          <a:ln w="6350">
            <a:solidFill>
              <a:srgbClr val="2B3D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75380" y="1912620"/>
            <a:ext cx="222638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dirty="0">
                <a:solidFill>
                  <a:srgbClr val="3FD0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75380" y="2352040"/>
            <a:ext cx="22263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4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incomes (1.07%)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5375" y="1732915"/>
            <a:ext cx="2520950" cy="1588770"/>
          </a:xfrm>
          <a:prstGeom prst="roundRect">
            <a:avLst>
              <a:gd name="adj" fmla="val 6195"/>
            </a:avLst>
          </a:prstGeom>
          <a:solidFill>
            <a:srgbClr val="18283F"/>
          </a:solidFill>
          <a:ln w="6350">
            <a:solidFill>
              <a:srgbClr val="2B3D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912620"/>
            <a:ext cx="2226386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dirty="0">
                <a:solidFill>
                  <a:srgbClr val="3FD0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5.79 | 4.08 | 2.66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355080" y="2715260"/>
            <a:ext cx="222638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4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| web | catalog purchases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855075" y="1732915"/>
            <a:ext cx="2520950" cy="1588770"/>
          </a:xfrm>
          <a:prstGeom prst="roundRect">
            <a:avLst>
              <a:gd name="adj" fmla="val 6195"/>
            </a:avLst>
          </a:prstGeom>
          <a:solidFill>
            <a:srgbClr val="18283F"/>
          </a:solidFill>
          <a:ln w="6350">
            <a:solidFill>
              <a:srgbClr val="2B3D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34780" y="1912620"/>
            <a:ext cx="222638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dirty="0">
                <a:solidFill>
                  <a:srgbClr val="3FD0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14.9%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034780" y="2352040"/>
            <a:ext cx="22263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4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campaign response rate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5975" y="3531235"/>
            <a:ext cx="5022850" cy="552450"/>
          </a:xfrm>
          <a:prstGeom prst="roundRect">
            <a:avLst>
              <a:gd name="adj" fmla="val 17816"/>
            </a:avLst>
          </a:prstGeom>
          <a:solidFill>
            <a:srgbClr val="FFFFFF"/>
          </a:solidFill>
          <a:ln w="6350">
            <a:solidFill>
              <a:srgbClr val="D9DED9"/>
            </a:solidFill>
            <a:prstDash val="solid"/>
          </a:ln>
        </p:spPr>
        <p:txBody>
          <a:bodyPr wrap="square" lIns="150877" tIns="150877" rIns="10974" bIns="125477" rtlCol="0" anchor="t">
            <a:normAutofit/>
          </a:bodyPr>
          <a:lstStyle/>
          <a:p>
            <a:pPr algn="l" indent="0" marL="0">
              <a:lnSpc>
                <a:spcPts val="1524"/>
              </a:lnSpc>
              <a:buNone/>
            </a:pPr>
            <a:r>
              <a:rPr lang="en-US" sz="1089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Skewed income</a:t>
            </a:r>
            <a:endParaRPr lang="en-US" sz="1089" dirty="0"/>
          </a:p>
        </p:txBody>
      </p:sp>
      <p:sp>
        <p:nvSpPr>
          <p:cNvPr id="17" name="Text 15"/>
          <p:cNvSpPr/>
          <p:nvPr/>
        </p:nvSpPr>
        <p:spPr>
          <a:xfrm>
            <a:off x="5943600" y="3528060"/>
            <a:ext cx="355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B7A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53175" y="3531235"/>
            <a:ext cx="5022850" cy="552450"/>
          </a:xfrm>
          <a:prstGeom prst="roundRect">
            <a:avLst>
              <a:gd name="adj" fmla="val 17816"/>
            </a:avLst>
          </a:prstGeom>
          <a:solidFill>
            <a:srgbClr val="FFFFFF"/>
          </a:solidFill>
          <a:ln w="6350">
            <a:solidFill>
              <a:srgbClr val="D9DED9"/>
            </a:solidFill>
            <a:prstDash val="solid"/>
          </a:ln>
        </p:spPr>
        <p:txBody>
          <a:bodyPr wrap="square" lIns="150878" tIns="150877" rIns="10974" bIns="125477" rtlCol="0" anchor="t">
            <a:normAutofit/>
          </a:bodyPr>
          <a:lstStyle/>
          <a:p>
            <a:pPr algn="l" indent="0" marL="0">
              <a:lnSpc>
                <a:spcPts val="1524"/>
              </a:lnSpc>
              <a:buNone/>
            </a:pPr>
            <a:r>
              <a:rPr lang="en-US" sz="1089" b="1" dirty="0">
                <a:solidFill>
                  <a:srgbClr val="0B7A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 imputation, outlier flag</a:t>
            </a:r>
            <a:endParaRPr lang="en-US" sz="1089" dirty="0"/>
          </a:p>
        </p:txBody>
      </p:sp>
      <p:sp>
        <p:nvSpPr>
          <p:cNvPr id="19" name="Text 17"/>
          <p:cNvSpPr/>
          <p:nvPr/>
        </p:nvSpPr>
        <p:spPr>
          <a:xfrm>
            <a:off x="815975" y="4191635"/>
            <a:ext cx="5022850" cy="552450"/>
          </a:xfrm>
          <a:prstGeom prst="roundRect">
            <a:avLst>
              <a:gd name="adj" fmla="val 17816"/>
            </a:avLst>
          </a:prstGeom>
          <a:solidFill>
            <a:srgbClr val="FFFFFF"/>
          </a:solidFill>
          <a:ln w="6350">
            <a:solidFill>
              <a:srgbClr val="D9DED9"/>
            </a:solidFill>
            <a:prstDash val="solid"/>
          </a:ln>
        </p:spPr>
        <p:txBody>
          <a:bodyPr wrap="square" lIns="150877" tIns="150877" rIns="10974" bIns="125477" rtlCol="0" anchor="t">
            <a:normAutofit/>
          </a:bodyPr>
          <a:lstStyle/>
          <a:p>
            <a:pPr algn="l" indent="0" marL="0">
              <a:lnSpc>
                <a:spcPts val="1524"/>
              </a:lnSpc>
              <a:buNone/>
            </a:pPr>
            <a:r>
              <a:rPr lang="en-US" sz="1089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spend columns</a:t>
            </a:r>
            <a:endParaRPr lang="en-US" sz="1089" dirty="0"/>
          </a:p>
        </p:txBody>
      </p:sp>
      <p:sp>
        <p:nvSpPr>
          <p:cNvPr id="20" name="Text 18"/>
          <p:cNvSpPr/>
          <p:nvPr/>
        </p:nvSpPr>
        <p:spPr>
          <a:xfrm>
            <a:off x="5943600" y="4188460"/>
            <a:ext cx="355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B7A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353175" y="4191635"/>
            <a:ext cx="5022850" cy="552450"/>
          </a:xfrm>
          <a:prstGeom prst="roundRect">
            <a:avLst>
              <a:gd name="adj" fmla="val 17816"/>
            </a:avLst>
          </a:prstGeom>
          <a:solidFill>
            <a:srgbClr val="FFFFFF"/>
          </a:solidFill>
          <a:ln w="6350">
            <a:solidFill>
              <a:srgbClr val="D9DED9"/>
            </a:solidFill>
            <a:prstDash val="solid"/>
          </a:ln>
        </p:spPr>
        <p:txBody>
          <a:bodyPr wrap="square" lIns="150878" tIns="150877" rIns="10974" bIns="125477" rtlCol="0" anchor="t">
            <a:normAutofit/>
          </a:bodyPr>
          <a:lstStyle/>
          <a:p>
            <a:pPr algn="l" indent="0" marL="0">
              <a:lnSpc>
                <a:spcPts val="1524"/>
              </a:lnSpc>
              <a:buNone/>
            </a:pPr>
            <a:r>
              <a:rPr lang="en-US" sz="1089" b="1" dirty="0">
                <a:solidFill>
                  <a:srgbClr val="0B7A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Total_spending feature</a:t>
            </a:r>
            <a:endParaRPr lang="en-US" sz="1089" dirty="0"/>
          </a:p>
        </p:txBody>
      </p:sp>
      <p:sp>
        <p:nvSpPr>
          <p:cNvPr id="22" name="Text 20"/>
          <p:cNvSpPr/>
          <p:nvPr/>
        </p:nvSpPr>
        <p:spPr>
          <a:xfrm>
            <a:off x="815975" y="4852035"/>
            <a:ext cx="5022850" cy="552450"/>
          </a:xfrm>
          <a:prstGeom prst="roundRect">
            <a:avLst>
              <a:gd name="adj" fmla="val 17816"/>
            </a:avLst>
          </a:prstGeom>
          <a:solidFill>
            <a:srgbClr val="FFFFFF"/>
          </a:solidFill>
          <a:ln w="6350">
            <a:solidFill>
              <a:srgbClr val="D9DED9"/>
            </a:solidFill>
            <a:prstDash val="solid"/>
          </a:ln>
        </p:spPr>
        <p:txBody>
          <a:bodyPr wrap="square" lIns="150877" tIns="150877" rIns="10974" bIns="125477" rtlCol="0" anchor="t">
            <a:normAutofit/>
          </a:bodyPr>
          <a:lstStyle/>
          <a:p>
            <a:pPr algn="l" indent="0" marL="0">
              <a:lnSpc>
                <a:spcPts val="1524"/>
              </a:lnSpc>
              <a:buNone/>
            </a:pPr>
            <a:r>
              <a:rPr lang="en-US" sz="1089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Mixed scales</a:t>
            </a:r>
            <a:endParaRPr lang="en-US" sz="1089" dirty="0"/>
          </a:p>
        </p:txBody>
      </p:sp>
      <p:sp>
        <p:nvSpPr>
          <p:cNvPr id="23" name="Text 21"/>
          <p:cNvSpPr/>
          <p:nvPr/>
        </p:nvSpPr>
        <p:spPr>
          <a:xfrm>
            <a:off x="5943600" y="4848860"/>
            <a:ext cx="355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B7A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353175" y="4852035"/>
            <a:ext cx="5022850" cy="552450"/>
          </a:xfrm>
          <a:prstGeom prst="roundRect">
            <a:avLst>
              <a:gd name="adj" fmla="val 17816"/>
            </a:avLst>
          </a:prstGeom>
          <a:solidFill>
            <a:srgbClr val="FFFFFF"/>
          </a:solidFill>
          <a:ln w="6350">
            <a:solidFill>
              <a:srgbClr val="D9DED9"/>
            </a:solidFill>
            <a:prstDash val="solid"/>
          </a:ln>
        </p:spPr>
        <p:txBody>
          <a:bodyPr wrap="square" lIns="150878" tIns="150877" rIns="10974" bIns="125477" rtlCol="0" anchor="t">
            <a:normAutofit/>
          </a:bodyPr>
          <a:lstStyle/>
          <a:p>
            <a:pPr algn="l" indent="0" marL="0">
              <a:lnSpc>
                <a:spcPts val="1524"/>
              </a:lnSpc>
              <a:buNone/>
            </a:pPr>
            <a:r>
              <a:rPr lang="en-US" sz="1089" b="1" dirty="0">
                <a:solidFill>
                  <a:srgbClr val="0B7A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StandardScaler</a:t>
            </a:r>
            <a:endParaRPr lang="en-US" sz="1089" dirty="0"/>
          </a:p>
        </p:txBody>
      </p:sp>
      <p:sp>
        <p:nvSpPr>
          <p:cNvPr id="25" name="Text 23"/>
          <p:cNvSpPr/>
          <p:nvPr/>
        </p:nvSpPr>
        <p:spPr>
          <a:xfrm>
            <a:off x="812800" y="561086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· pandas · scikit-learn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12800" y="623824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SmartCart Customer Segmentation | 2 / 7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7A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· CLEANING &amp; FEATURE ENGINEERING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7441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engineering in Python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732916"/>
            <a:ext cx="6211570" cy="885825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D9DE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680" y="1912620"/>
            <a:ext cx="6027725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95680" y="2207895"/>
            <a:ext cx="602772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2026 − Year_Birth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15975" y="2726691"/>
            <a:ext cx="6211570" cy="885825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D9DE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5680" y="2906395"/>
            <a:ext cx="6027725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Tenure days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95680" y="3201670"/>
            <a:ext cx="602772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Latest Dt_Customer − own Dt_Customer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5975" y="3720466"/>
            <a:ext cx="6211570" cy="885825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D9DE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5680" y="3900170"/>
            <a:ext cx="6027725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Total_spending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95680" y="4195445"/>
            <a:ext cx="602772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 of 6 product-spend columns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5975" y="4714241"/>
            <a:ext cx="6211570" cy="885825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D9DE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5680" y="4893945"/>
            <a:ext cx="6027725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Total_childrens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95680" y="5189220"/>
            <a:ext cx="602772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Kidhome + Teenhome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237095" y="1732916"/>
            <a:ext cx="4138930" cy="386715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6350">
            <a:solidFill>
              <a:srgbClr val="2B3D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16800" y="1912620"/>
            <a:ext cx="3892906" cy="758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775"/>
              </a:lnSpc>
              <a:buNone/>
            </a:pPr>
            <a:r>
              <a:rPr lang="en-US" sz="5500" b="1" dirty="0">
                <a:solidFill>
                  <a:srgbClr val="3FD0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 → 15</a:t>
            </a:r>
            <a:endParaRPr lang="en-US" sz="5500" dirty="0"/>
          </a:p>
        </p:txBody>
      </p:sp>
      <p:sp>
        <p:nvSpPr>
          <p:cNvPr id="18" name="Text 16"/>
          <p:cNvSpPr/>
          <p:nvPr/>
        </p:nvSpPr>
        <p:spPr>
          <a:xfrm>
            <a:off x="7416800" y="2722245"/>
            <a:ext cx="38929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C4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514844" y="3047366"/>
            <a:ext cx="3787242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 nulls: median imputation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Education 5 → 3, marital 8 → 2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columns dropped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4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SmartCart Customer Segmentation | 3 / 7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41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231" b="1" dirty="0">
                <a:solidFill>
                  <a:srgbClr val="0B7A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· EDA, ENCODING &amp; PCA</a:t>
            </a:r>
            <a:endParaRPr lang="en-US" sz="1231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92676"/>
            <a:ext cx="10883392" cy="417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5"/>
              </a:lnSpc>
              <a:buNone/>
            </a:pPr>
            <a:r>
              <a:rPr lang="en-US" sz="2841" b="1" i="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EDA finds the features that matter</a:t>
            </a:r>
            <a:endParaRPr lang="en-US" sz="2841" dirty="0"/>
          </a:p>
        </p:txBody>
      </p:sp>
      <p:sp>
        <p:nvSpPr>
          <p:cNvPr id="4" name="Shape 2"/>
          <p:cNvSpPr/>
          <p:nvPr/>
        </p:nvSpPr>
        <p:spPr>
          <a:xfrm>
            <a:off x="815975" y="1691323"/>
            <a:ext cx="5185410" cy="4147503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6350">
            <a:solidFill>
              <a:srgbClr val="D9DED9"/>
            </a:solidFill>
            <a:prstDash val="solid"/>
          </a:ln>
        </p:spPr>
      </p:sp>
      <p:pic>
        <p:nvPicPr>
          <p:cNvPr id="5" name="Image 0" descr="Correlation heatmap of numerical features">    </p:cNvPr>
          <p:cNvPicPr>
            <a:picLocks noChangeAspect="1"/>
          </p:cNvPicPr>
          <p:nvPr/>
        </p:nvPicPr>
        <p:blipFill>
          <a:blip r:embed="rId1"/>
          <a:srcRect l="-3396" r="-3396" t="0" b="0"/>
          <a:stretch/>
        </p:blipFill>
        <p:spPr>
          <a:xfrm>
            <a:off x="995680" y="1871028"/>
            <a:ext cx="4826000" cy="37880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10935" y="1691323"/>
            <a:ext cx="5165090" cy="965438"/>
          </a:xfrm>
          <a:prstGeom prst="roundRect">
            <a:avLst>
              <a:gd name="adj" fmla="val 10195"/>
            </a:avLst>
          </a:prstGeom>
          <a:solidFill>
            <a:srgbClr val="FFFFFF"/>
          </a:solidFill>
          <a:ln w="6350">
            <a:solidFill>
              <a:srgbClr val="D9DED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90640" y="1871028"/>
            <a:ext cx="4949850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Outliers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390640" y="2151698"/>
            <a:ext cx="49498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Removed income &gt; $600k and age &gt; 90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0935" y="2752010"/>
            <a:ext cx="5165090" cy="965438"/>
          </a:xfrm>
          <a:prstGeom prst="roundRect">
            <a:avLst>
              <a:gd name="adj" fmla="val 10195"/>
            </a:avLst>
          </a:prstGeom>
          <a:solidFill>
            <a:srgbClr val="FFFFFF"/>
          </a:solidFill>
          <a:ln w="6350">
            <a:solidFill>
              <a:srgbClr val="D9DED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90640" y="2931716"/>
            <a:ext cx="4949850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Heatmap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390640" y="3212385"/>
            <a:ext cx="49498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Income ↔ spend r ≈ 0.79; children ↔ spend r ≈ −0.50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10935" y="3812699"/>
            <a:ext cx="5165090" cy="965438"/>
          </a:xfrm>
          <a:prstGeom prst="roundRect">
            <a:avLst>
              <a:gd name="adj" fmla="val 10195"/>
            </a:avLst>
          </a:prstGeom>
          <a:solidFill>
            <a:srgbClr val="FFFFFF"/>
          </a:solidFill>
          <a:ln w="6350">
            <a:solidFill>
              <a:srgbClr val="D9DED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90640" y="3992404"/>
            <a:ext cx="4949850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Encode, scale, PCA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390640" y="4273074"/>
            <a:ext cx="49498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One-hot + StandardScaler; PCA 18D → 2D / 3D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210935" y="4873388"/>
            <a:ext cx="5165090" cy="965438"/>
          </a:xfrm>
          <a:prstGeom prst="roundRect">
            <a:avLst>
              <a:gd name="adj" fmla="val 10195"/>
            </a:avLst>
          </a:prstGeom>
          <a:solidFill>
            <a:srgbClr val="FFFFFF"/>
          </a:solidFill>
          <a:ln w="6350">
            <a:solidFill>
              <a:srgbClr val="D9DED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90640" y="5053092"/>
            <a:ext cx="4949850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390640" y="5333763"/>
            <a:ext cx="49498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Stable model inputs, drivers marketing can explain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SmartCart Customer Segmentation | 4 / 7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7A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· K-VALUE &amp; ALGORITHM CHOICE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7439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Selection: Unsupervised ML Algorithms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732914"/>
            <a:ext cx="3803650" cy="3048000"/>
          </a:xfrm>
          <a:prstGeom prst="roundRect">
            <a:avLst>
              <a:gd name="adj" fmla="val 3229"/>
            </a:avLst>
          </a:prstGeom>
          <a:solidFill>
            <a:srgbClr val="FFFFFF"/>
          </a:solidFill>
          <a:ln w="6350">
            <a:solidFill>
              <a:srgbClr val="D9DE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680" y="1912621"/>
            <a:ext cx="354756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Elbow (WCSS) + Silhouette</a:t>
            </a:r>
            <a:endParaRPr lang="en-US" sz="1300" dirty="0"/>
          </a:p>
        </p:txBody>
      </p:sp>
      <p:pic>
        <p:nvPicPr>
          <p:cNvPr id="6" name="Image 0" descr="WCSS elbow and silhouette score by K">    </p:cNvPr>
          <p:cNvPicPr>
            <a:picLocks noChangeAspect="1"/>
          </p:cNvPicPr>
          <p:nvPr/>
        </p:nvPicPr>
        <p:blipFill>
          <a:blip r:embed="rId1"/>
          <a:srcRect l="0" r="0" t="-13" b="-13"/>
          <a:stretch/>
        </p:blipFill>
        <p:spPr>
          <a:xfrm>
            <a:off x="995680" y="2219961"/>
            <a:ext cx="3505200" cy="238125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78375" y="1732914"/>
            <a:ext cx="3219450" cy="3048000"/>
          </a:xfrm>
          <a:prstGeom prst="roundRect">
            <a:avLst>
              <a:gd name="adj" fmla="val 3229"/>
            </a:avLst>
          </a:prstGeom>
          <a:solidFill>
            <a:srgbClr val="FFFFFF"/>
          </a:solidFill>
          <a:ln w="6350">
            <a:solidFill>
              <a:srgbClr val="D9DED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58080" y="1912621"/>
            <a:ext cx="294584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K-Means (K=4)</a:t>
            </a:r>
            <a:endParaRPr lang="en-US" sz="1300" dirty="0"/>
          </a:p>
        </p:txBody>
      </p:sp>
      <p:pic>
        <p:nvPicPr>
          <p:cNvPr id="9" name="Image 1" descr="K-Means (K=4)">    </p:cNvPr>
          <p:cNvPicPr>
            <a:picLocks noChangeAspect="1"/>
          </p:cNvPicPr>
          <p:nvPr/>
        </p:nvPicPr>
        <p:blipFill>
          <a:blip r:embed="rId2"/>
          <a:srcRect l="-5" r="-5" t="0" b="0"/>
          <a:stretch/>
        </p:blipFill>
        <p:spPr>
          <a:xfrm>
            <a:off x="4958080" y="2219961"/>
            <a:ext cx="2413000" cy="236855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156575" y="1732914"/>
            <a:ext cx="3219450" cy="3048000"/>
          </a:xfrm>
          <a:prstGeom prst="roundRect">
            <a:avLst>
              <a:gd name="adj" fmla="val 3229"/>
            </a:avLst>
          </a:prstGeom>
          <a:solidFill>
            <a:srgbClr val="DFF3EF"/>
          </a:solidFill>
          <a:ln w="6350">
            <a:solidFill>
              <a:srgbClr val="9FD6C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336280" y="1912621"/>
            <a:ext cx="294584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Agglomerative (final)</a:t>
            </a:r>
            <a:endParaRPr lang="en-US" sz="1300" dirty="0"/>
          </a:p>
        </p:txBody>
      </p:sp>
      <p:pic>
        <p:nvPicPr>
          <p:cNvPr id="12" name="Image 2" descr="Agglomerative (final)">    </p:cNvPr>
          <p:cNvPicPr>
            <a:picLocks noChangeAspect="1"/>
          </p:cNvPicPr>
          <p:nvPr/>
        </p:nvPicPr>
        <p:blipFill>
          <a:blip r:embed="rId3"/>
          <a:srcRect l="-5" r="-5" t="0" b="0"/>
          <a:stretch/>
        </p:blipFill>
        <p:spPr>
          <a:xfrm>
            <a:off x="8336280" y="2219961"/>
            <a:ext cx="2413000" cy="23685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5975" y="4990464"/>
            <a:ext cx="3803650" cy="786130"/>
          </a:xfrm>
          <a:prstGeom prst="roundRect">
            <a:avLst>
              <a:gd name="adj" fmla="val 12520"/>
            </a:avLst>
          </a:prstGeom>
          <a:solidFill>
            <a:srgbClr val="FFFFFF"/>
          </a:solidFill>
          <a:ln w="6350">
            <a:solidFill>
              <a:srgbClr val="D9DED9"/>
            </a:solidFill>
            <a:prstDash val="solid"/>
          </a:ln>
        </p:spPr>
        <p:txBody>
          <a:bodyPr wrap="square" lIns="150877" tIns="150877" rIns="47550" bIns="150877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Elbow bends at K = 4; silhouette ≈ 0.36 at K = 4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4778375" y="4990464"/>
            <a:ext cx="3219450" cy="786130"/>
          </a:xfrm>
          <a:prstGeom prst="roundRect">
            <a:avLst>
              <a:gd name="adj" fmla="val 12520"/>
            </a:avLst>
          </a:prstGeom>
          <a:solidFill>
            <a:srgbClr val="FFFFFF"/>
          </a:solidFill>
          <a:ln w="6350">
            <a:solidFill>
              <a:srgbClr val="D9DED9"/>
            </a:solidFill>
            <a:prstDash val="solid"/>
          </a:ln>
        </p:spPr>
        <p:txBody>
          <a:bodyPr wrap="square" lIns="150877" tIns="150877" rIns="65076" bIns="125477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centroid baseline; assumes spherical clusters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8156575" y="4990464"/>
            <a:ext cx="3219450" cy="786130"/>
          </a:xfrm>
          <a:prstGeom prst="roundRect">
            <a:avLst>
              <a:gd name="adj" fmla="val 12520"/>
            </a:avLst>
          </a:prstGeom>
          <a:solidFill>
            <a:srgbClr val="DFF3EF"/>
          </a:solidFill>
          <a:ln w="6350">
            <a:solidFill>
              <a:srgbClr val="9FD6CB"/>
            </a:solidFill>
            <a:prstDash val="solid"/>
          </a:ln>
        </p:spPr>
        <p:txBody>
          <a:bodyPr wrap="square" lIns="150878" tIns="150877" rIns="65076" bIns="125477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Ward hierarchy: tighter, better-separated clusters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SmartCart Customer Segmentation | 5 / 7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7A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· CLUSTER SUMMARY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7439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personas, four strategies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732914"/>
            <a:ext cx="4423410" cy="3589020"/>
          </a:xfrm>
          <a:prstGeom prst="roundRect">
            <a:avLst>
              <a:gd name="adj" fmla="val 2742"/>
            </a:avLst>
          </a:prstGeom>
          <a:solidFill>
            <a:srgbClr val="FFFFFF"/>
          </a:solidFill>
          <a:ln w="6350">
            <a:solidFill>
              <a:srgbClr val="D9DE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680" y="1912621"/>
            <a:ext cx="41859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Income vs total spending, by cluster</a:t>
            </a:r>
            <a:endParaRPr lang="en-US" sz="1200" dirty="0"/>
          </a:p>
        </p:txBody>
      </p:sp>
      <p:pic>
        <p:nvPicPr>
          <p:cNvPr id="6" name="Image 0" descr="Scatter of income vs total spending coloured by cluster">    </p:cNvPr>
          <p:cNvPicPr>
            <a:picLocks noChangeAspect="1"/>
          </p:cNvPicPr>
          <p:nvPr/>
        </p:nvPicPr>
        <p:blipFill>
          <a:blip r:embed="rId1"/>
          <a:srcRect l="-44" r="-44" t="0" b="0"/>
          <a:stretch/>
        </p:blipFill>
        <p:spPr>
          <a:xfrm>
            <a:off x="995680" y="2202182"/>
            <a:ext cx="4064000" cy="294005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98135" y="1732914"/>
            <a:ext cx="3067050" cy="1715135"/>
          </a:xfrm>
          <a:prstGeom prst="roundRect">
            <a:avLst>
              <a:gd name="adj" fmla="val 5739"/>
            </a:avLst>
          </a:prstGeom>
          <a:solidFill>
            <a:srgbClr val="FFFFFF"/>
          </a:solidFill>
          <a:ln w="6350">
            <a:solidFill>
              <a:srgbClr val="D9DE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00040" y="1734821"/>
            <a:ext cx="3063240" cy="88900"/>
          </a:xfrm>
          <a:custGeom>
            <a:avLst/>
            <a:gdLst/>
            <a:ahLst/>
            <a:cxnLst/>
            <a:rect l="l" t="t" r="r" b="b"/>
            <a:pathLst>
              <a:path w="3063240" h="88900">
                <a:moveTo>
                  <a:pt x="301" y="88900"/>
                </a:moveTo>
                <a:arcTo hR="96520" wR="96520" stAng="11071684" swAng="5128316"/>
                <a:lnTo>
                  <a:pt x="2966720" y="0"/>
                </a:lnTo>
                <a:arcTo hR="96520" wR="96520" stAng="16200000" swAng="5128316"/>
                <a:close/>
              </a:path>
            </a:pathLst>
          </a:custGeom>
          <a:solidFill>
            <a:srgbClr val="D64545"/>
          </a:solidFill>
          <a:ln/>
        </p:spPr>
      </p:sp>
      <p:sp>
        <p:nvSpPr>
          <p:cNvPr id="9" name="Text 6"/>
          <p:cNvSpPr/>
          <p:nvPr/>
        </p:nvSpPr>
        <p:spPr>
          <a:xfrm>
            <a:off x="5552440" y="1976121"/>
            <a:ext cx="28411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Cluster 0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552440" y="2252982"/>
            <a:ext cx="2841193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Family Shoppers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552440" y="2520950"/>
            <a:ext cx="28411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 a lot, buy little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552440" y="2797811"/>
            <a:ext cx="28411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7A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 with bundles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623935" y="1732914"/>
            <a:ext cx="3067050" cy="1715135"/>
          </a:xfrm>
          <a:prstGeom prst="roundRect">
            <a:avLst>
              <a:gd name="adj" fmla="val 5739"/>
            </a:avLst>
          </a:prstGeom>
          <a:solidFill>
            <a:srgbClr val="FFFFFF"/>
          </a:solidFill>
          <a:ln w="6350">
            <a:solidFill>
              <a:srgbClr val="D9DED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625840" y="1734821"/>
            <a:ext cx="3063240" cy="88900"/>
          </a:xfrm>
          <a:custGeom>
            <a:avLst/>
            <a:gdLst/>
            <a:ahLst/>
            <a:cxnLst/>
            <a:rect l="l" t="t" r="r" b="b"/>
            <a:pathLst>
              <a:path w="3063240" h="88900">
                <a:moveTo>
                  <a:pt x="301" y="88900"/>
                </a:moveTo>
                <a:arcTo hR="96520" wR="96520" stAng="11071684" swAng="5128316"/>
                <a:lnTo>
                  <a:pt x="2966720" y="0"/>
                </a:lnTo>
                <a:arcTo hR="96520" wR="96520" stAng="16200000" swAng="5128316"/>
                <a:close/>
              </a:path>
            </a:pathLst>
          </a:custGeom>
          <a:solidFill>
            <a:srgbClr val="2F6FD6"/>
          </a:solidFill>
          <a:ln/>
        </p:spPr>
      </p:sp>
      <p:sp>
        <p:nvSpPr>
          <p:cNvPr id="15" name="Text 12"/>
          <p:cNvSpPr/>
          <p:nvPr/>
        </p:nvSpPr>
        <p:spPr>
          <a:xfrm>
            <a:off x="8778240" y="1976121"/>
            <a:ext cx="28411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Cluster 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778240" y="2252982"/>
            <a:ext cx="2841193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Couples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778240" y="2520950"/>
            <a:ext cx="28411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spend, all channels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778240" y="2797811"/>
            <a:ext cx="28411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7A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 with loyalty perks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398135" y="3606800"/>
            <a:ext cx="3067050" cy="1715135"/>
          </a:xfrm>
          <a:prstGeom prst="roundRect">
            <a:avLst>
              <a:gd name="adj" fmla="val 5739"/>
            </a:avLst>
          </a:prstGeom>
          <a:solidFill>
            <a:srgbClr val="FFFFFF"/>
          </a:solidFill>
          <a:ln w="6350">
            <a:solidFill>
              <a:srgbClr val="D9DED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400040" y="3608707"/>
            <a:ext cx="3063240" cy="88900"/>
          </a:xfrm>
          <a:custGeom>
            <a:avLst/>
            <a:gdLst/>
            <a:ahLst/>
            <a:cxnLst/>
            <a:rect l="l" t="t" r="r" b="b"/>
            <a:pathLst>
              <a:path w="3063240" h="88900">
                <a:moveTo>
                  <a:pt x="301" y="88900"/>
                </a:moveTo>
                <a:arcTo hR="96520" wR="96520" stAng="11071684" swAng="5128316"/>
                <a:lnTo>
                  <a:pt x="2966720" y="0"/>
                </a:lnTo>
                <a:arcTo hR="96520" wR="96520" stAng="16200000" swAng="5128316"/>
                <a:close/>
              </a:path>
            </a:pathLst>
          </a:custGeom>
          <a:solidFill>
            <a:srgbClr val="E0A100"/>
          </a:solidFill>
          <a:ln/>
        </p:spPr>
      </p:sp>
      <p:sp>
        <p:nvSpPr>
          <p:cNvPr id="21" name="Text 18"/>
          <p:cNvSpPr/>
          <p:nvPr/>
        </p:nvSpPr>
        <p:spPr>
          <a:xfrm>
            <a:off x="5552440" y="3850007"/>
            <a:ext cx="28411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Cluster 2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552440" y="4126864"/>
            <a:ext cx="2841193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Browsers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552440" y="4394836"/>
            <a:ext cx="28411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income, many visits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552440" y="4671696"/>
            <a:ext cx="28411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7A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 with flash sales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623935" y="3606800"/>
            <a:ext cx="3067050" cy="1715135"/>
          </a:xfrm>
          <a:prstGeom prst="roundRect">
            <a:avLst>
              <a:gd name="adj" fmla="val 5739"/>
            </a:avLst>
          </a:prstGeom>
          <a:solidFill>
            <a:srgbClr val="FFFFFF"/>
          </a:solidFill>
          <a:ln w="6350">
            <a:solidFill>
              <a:srgbClr val="D9DED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625840" y="3608707"/>
            <a:ext cx="3063240" cy="88900"/>
          </a:xfrm>
          <a:custGeom>
            <a:avLst/>
            <a:gdLst/>
            <a:ahLst/>
            <a:cxnLst/>
            <a:rect l="l" t="t" r="r" b="b"/>
            <a:pathLst>
              <a:path w="3063240" h="88900">
                <a:moveTo>
                  <a:pt x="301" y="88900"/>
                </a:moveTo>
                <a:arcTo hR="96520" wR="96520" stAng="11071684" swAng="5128316"/>
                <a:lnTo>
                  <a:pt x="2966720" y="0"/>
                </a:lnTo>
                <a:arcTo hR="96520" wR="96520" stAng="16200000" swAng="5128316"/>
                <a:close/>
              </a:path>
            </a:pathLst>
          </a:custGeom>
          <a:solidFill>
            <a:srgbClr val="2E9E5B"/>
          </a:solidFill>
          <a:ln/>
        </p:spPr>
      </p:sp>
      <p:sp>
        <p:nvSpPr>
          <p:cNvPr id="27" name="Text 24"/>
          <p:cNvSpPr/>
          <p:nvPr/>
        </p:nvSpPr>
        <p:spPr>
          <a:xfrm>
            <a:off x="8778240" y="3850007"/>
            <a:ext cx="28411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Cluster 3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778240" y="4126864"/>
            <a:ext cx="2841193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Singles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8778240" y="4394836"/>
            <a:ext cx="28411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spend, best response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778240" y="4671696"/>
            <a:ext cx="28411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7A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High-touch, high-ROI offers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SmartCart Customer Segmentation | 6 / 7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46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74"/>
              </a:lnSpc>
              <a:buNone/>
            </a:pPr>
            <a:r>
              <a:rPr lang="en-US" sz="1268" b="1" dirty="0">
                <a:solidFill>
                  <a:srgbClr val="3FD0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· RECOMMENDATIONS &amp; DEPLOYMENT</a:t>
            </a:r>
            <a:endParaRPr lang="en-US" sz="1268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97201"/>
            <a:ext cx="10883392" cy="4259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66"/>
              </a:lnSpc>
              <a:buNone/>
            </a:pPr>
            <a:r>
              <a:rPr lang="en-US" sz="2878" b="1" i="0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Targeted actions, then rollout</a:t>
            </a:r>
            <a:endParaRPr lang="en-US" sz="2878" dirty="0"/>
          </a:p>
        </p:txBody>
      </p:sp>
      <p:sp>
        <p:nvSpPr>
          <p:cNvPr id="4" name="Text 2"/>
          <p:cNvSpPr/>
          <p:nvPr/>
        </p:nvSpPr>
        <p:spPr>
          <a:xfrm>
            <a:off x="815975" y="1704104"/>
            <a:ext cx="2279650" cy="590550"/>
          </a:xfrm>
          <a:prstGeom prst="roundRect">
            <a:avLst>
              <a:gd name="adj" fmla="val 16667"/>
            </a:avLst>
          </a:prstGeom>
          <a:solidFill>
            <a:srgbClr val="18283F"/>
          </a:solidFill>
          <a:ln w="6350">
            <a:solidFill>
              <a:srgbClr val="2B3D58"/>
            </a:solidFill>
            <a:prstDash val="solid"/>
          </a:ln>
        </p:spPr>
        <p:txBody>
          <a:bodyPr wrap="square" lIns="150877" tIns="150877" rIns="93270" bIns="125477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FD0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Family Shoppers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178175" y="1704104"/>
            <a:ext cx="5454650" cy="590550"/>
          </a:xfrm>
          <a:prstGeom prst="roundRect">
            <a:avLst>
              <a:gd name="adj" fmla="val 16667"/>
            </a:avLst>
          </a:prstGeom>
          <a:solidFill>
            <a:srgbClr val="18283F"/>
          </a:solidFill>
          <a:ln w="6350">
            <a:solidFill>
              <a:srgbClr val="2B3D58"/>
            </a:solidFill>
            <a:prstDash val="solid"/>
          </a:ln>
        </p:spPr>
        <p:txBody>
          <a:bodyPr wrap="square" lIns="150877" tIns="150877" rIns="0" bIns="125477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Coupons and family bundles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715375" y="1704104"/>
            <a:ext cx="2660650" cy="590550"/>
          </a:xfrm>
          <a:prstGeom prst="roundRect">
            <a:avLst>
              <a:gd name="adj" fmla="val 16667"/>
            </a:avLst>
          </a:prstGeom>
          <a:solidFill>
            <a:srgbClr val="18283F"/>
          </a:solidFill>
          <a:ln w="6350">
            <a:solidFill>
              <a:srgbClr val="2B3D58"/>
            </a:solidFill>
            <a:prstDash val="solid"/>
          </a:ln>
        </p:spPr>
        <p:txBody>
          <a:bodyPr wrap="square" lIns="150878" tIns="150877" rIns="81840" bIns="125477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8C4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Conversion, AOV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5975" y="2377204"/>
            <a:ext cx="2279650" cy="590550"/>
          </a:xfrm>
          <a:prstGeom prst="roundRect">
            <a:avLst>
              <a:gd name="adj" fmla="val 16667"/>
            </a:avLst>
          </a:prstGeom>
          <a:solidFill>
            <a:srgbClr val="18283F"/>
          </a:solidFill>
          <a:ln w="6350">
            <a:solidFill>
              <a:srgbClr val="2B3D58"/>
            </a:solidFill>
            <a:prstDash val="solid"/>
          </a:ln>
        </p:spPr>
        <p:txBody>
          <a:bodyPr wrap="square" lIns="150877" tIns="150877" rIns="93270" bIns="125477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FD0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Couples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78175" y="2377204"/>
            <a:ext cx="5454650" cy="590550"/>
          </a:xfrm>
          <a:prstGeom prst="roundRect">
            <a:avLst>
              <a:gd name="adj" fmla="val 16667"/>
            </a:avLst>
          </a:prstGeom>
          <a:solidFill>
            <a:srgbClr val="18283F"/>
          </a:solidFill>
          <a:ln w="6350">
            <a:solidFill>
              <a:srgbClr val="2B3D58"/>
            </a:solidFill>
            <a:prstDash val="solid"/>
          </a:ln>
        </p:spPr>
        <p:txBody>
          <a:bodyPr wrap="square" lIns="150877" tIns="150877" rIns="0" bIns="125477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VIP loyalty and early access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715375" y="2377204"/>
            <a:ext cx="2660650" cy="590550"/>
          </a:xfrm>
          <a:prstGeom prst="roundRect">
            <a:avLst>
              <a:gd name="adj" fmla="val 16667"/>
            </a:avLst>
          </a:prstGeom>
          <a:solidFill>
            <a:srgbClr val="18283F"/>
          </a:solidFill>
          <a:ln w="6350">
            <a:solidFill>
              <a:srgbClr val="2B3D58"/>
            </a:solidFill>
            <a:prstDash val="solid"/>
          </a:ln>
        </p:spPr>
        <p:txBody>
          <a:bodyPr wrap="square" lIns="150878" tIns="150877" rIns="81840" bIns="125477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8C4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Retention, LTV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5975" y="3050304"/>
            <a:ext cx="2279650" cy="590550"/>
          </a:xfrm>
          <a:prstGeom prst="roundRect">
            <a:avLst>
              <a:gd name="adj" fmla="val 16667"/>
            </a:avLst>
          </a:prstGeom>
          <a:solidFill>
            <a:srgbClr val="18283F"/>
          </a:solidFill>
          <a:ln w="6350">
            <a:solidFill>
              <a:srgbClr val="2B3D58"/>
            </a:solidFill>
            <a:prstDash val="solid"/>
          </a:ln>
        </p:spPr>
        <p:txBody>
          <a:bodyPr wrap="square" lIns="150877" tIns="150877" rIns="93270" bIns="125477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FD0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Browsers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78175" y="3050304"/>
            <a:ext cx="5454650" cy="590550"/>
          </a:xfrm>
          <a:prstGeom prst="roundRect">
            <a:avLst>
              <a:gd name="adj" fmla="val 16667"/>
            </a:avLst>
          </a:prstGeom>
          <a:solidFill>
            <a:srgbClr val="18283F"/>
          </a:solidFill>
          <a:ln w="6350">
            <a:solidFill>
              <a:srgbClr val="2B3D58"/>
            </a:solidFill>
            <a:prstDash val="solid"/>
          </a:ln>
        </p:spPr>
        <p:txBody>
          <a:bodyPr wrap="square" lIns="150877" tIns="150877" rIns="0" bIns="125477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Flash sales, cart-abandonment offers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715375" y="3050304"/>
            <a:ext cx="2660650" cy="590550"/>
          </a:xfrm>
          <a:prstGeom prst="roundRect">
            <a:avLst>
              <a:gd name="adj" fmla="val 16667"/>
            </a:avLst>
          </a:prstGeom>
          <a:solidFill>
            <a:srgbClr val="18283F"/>
          </a:solidFill>
          <a:ln w="6350">
            <a:solidFill>
              <a:srgbClr val="2B3D58"/>
            </a:solidFill>
            <a:prstDash val="solid"/>
          </a:ln>
        </p:spPr>
        <p:txBody>
          <a:bodyPr wrap="square" lIns="150878" tIns="150877" rIns="81840" bIns="125477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8C4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Visits to purchases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5975" y="3723404"/>
            <a:ext cx="2279650" cy="590550"/>
          </a:xfrm>
          <a:prstGeom prst="roundRect">
            <a:avLst>
              <a:gd name="adj" fmla="val 16667"/>
            </a:avLst>
          </a:prstGeom>
          <a:solidFill>
            <a:srgbClr val="18283F"/>
          </a:solidFill>
          <a:ln w="6350">
            <a:solidFill>
              <a:srgbClr val="2B3D58"/>
            </a:solidFill>
            <a:prstDash val="solid"/>
          </a:ln>
        </p:spPr>
        <p:txBody>
          <a:bodyPr wrap="square" lIns="150877" tIns="150877" rIns="93270" bIns="125477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FD0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Singles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78175" y="3723404"/>
            <a:ext cx="5454650" cy="590550"/>
          </a:xfrm>
          <a:prstGeom prst="roundRect">
            <a:avLst>
              <a:gd name="adj" fmla="val 16667"/>
            </a:avLst>
          </a:prstGeom>
          <a:solidFill>
            <a:srgbClr val="18283F"/>
          </a:solidFill>
          <a:ln w="6350">
            <a:solidFill>
              <a:srgbClr val="2B3D58"/>
            </a:solidFill>
            <a:prstDash val="solid"/>
          </a:ln>
        </p:spPr>
        <p:txBody>
          <a:bodyPr wrap="square" lIns="150877" tIns="150877" rIns="0" bIns="125477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1-on-1 offers, concierge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715375" y="3723404"/>
            <a:ext cx="2660650" cy="590550"/>
          </a:xfrm>
          <a:prstGeom prst="roundRect">
            <a:avLst>
              <a:gd name="adj" fmla="val 16667"/>
            </a:avLst>
          </a:prstGeom>
          <a:solidFill>
            <a:srgbClr val="18283F"/>
          </a:solidFill>
          <a:ln w="6350">
            <a:solidFill>
              <a:srgbClr val="2B3D58"/>
            </a:solidFill>
            <a:prstDash val="solid"/>
          </a:ln>
        </p:spPr>
        <p:txBody>
          <a:bodyPr wrap="square" lIns="150878" tIns="150877" rIns="81840" bIns="125477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8C4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Campaign ROI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5975" y="4523504"/>
            <a:ext cx="2559050" cy="1315323"/>
          </a:xfrm>
          <a:prstGeom prst="roundRect">
            <a:avLst>
              <a:gd name="adj" fmla="val 7483"/>
            </a:avLst>
          </a:prstGeom>
          <a:solidFill>
            <a:srgbClr val="18283F"/>
          </a:solidFill>
          <a:ln w="6350">
            <a:solidFill>
              <a:srgbClr val="2B3D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5680" y="4703207"/>
            <a:ext cx="2265629" cy="2249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121" b="1" dirty="0">
                <a:solidFill>
                  <a:srgbClr val="3FD0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1</a:t>
            </a:r>
            <a:endParaRPr lang="en-US" sz="1121" dirty="0"/>
          </a:p>
        </p:txBody>
      </p:sp>
      <p:sp>
        <p:nvSpPr>
          <p:cNvPr id="18" name="Text 16"/>
          <p:cNvSpPr/>
          <p:nvPr/>
        </p:nvSpPr>
        <p:spPr>
          <a:xfrm>
            <a:off x="995680" y="4978955"/>
            <a:ext cx="2265629" cy="230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3"/>
              </a:lnSpc>
              <a:buNone/>
            </a:pPr>
            <a:r>
              <a:rPr lang="en-US" sz="1411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</a:t>
            </a:r>
            <a:endParaRPr lang="en-US" sz="1411" dirty="0"/>
          </a:p>
        </p:txBody>
      </p:sp>
      <p:sp>
        <p:nvSpPr>
          <p:cNvPr id="19" name="Text 17"/>
          <p:cNvSpPr/>
          <p:nvPr/>
        </p:nvSpPr>
        <p:spPr>
          <a:xfrm>
            <a:off x="995680" y="5260023"/>
            <a:ext cx="2265629" cy="424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85"/>
              </a:lnSpc>
              <a:buNone/>
            </a:pPr>
            <a:r>
              <a:rPr lang="en-US" sz="1133" dirty="0">
                <a:solidFill>
                  <a:srgbClr val="B8C4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 new customers to clusters in the warehouse</a:t>
            </a:r>
            <a:endParaRPr lang="en-US" sz="1133" dirty="0"/>
          </a:p>
        </p:txBody>
      </p:sp>
      <p:sp>
        <p:nvSpPr>
          <p:cNvPr id="20" name="Shape 18"/>
          <p:cNvSpPr/>
          <p:nvPr/>
        </p:nvSpPr>
        <p:spPr>
          <a:xfrm>
            <a:off x="3482975" y="4523504"/>
            <a:ext cx="2559050" cy="1315323"/>
          </a:xfrm>
          <a:prstGeom prst="roundRect">
            <a:avLst>
              <a:gd name="adj" fmla="val 7483"/>
            </a:avLst>
          </a:prstGeom>
          <a:solidFill>
            <a:srgbClr val="18283F"/>
          </a:solidFill>
          <a:ln w="6350">
            <a:solidFill>
              <a:srgbClr val="2B3D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62680" y="4703207"/>
            <a:ext cx="2265629" cy="2249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121" b="1" dirty="0">
                <a:solidFill>
                  <a:srgbClr val="3FD0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2</a:t>
            </a:r>
            <a:endParaRPr lang="en-US" sz="1121" dirty="0"/>
          </a:p>
        </p:txBody>
      </p:sp>
      <p:sp>
        <p:nvSpPr>
          <p:cNvPr id="22" name="Text 20"/>
          <p:cNvSpPr/>
          <p:nvPr/>
        </p:nvSpPr>
        <p:spPr>
          <a:xfrm>
            <a:off x="3662680" y="4978955"/>
            <a:ext cx="2265629" cy="230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3"/>
              </a:lnSpc>
              <a:buNone/>
            </a:pPr>
            <a:r>
              <a:rPr lang="en-US" sz="1411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</a:t>
            </a:r>
            <a:endParaRPr lang="en-US" sz="1411" dirty="0"/>
          </a:p>
        </p:txBody>
      </p:sp>
      <p:sp>
        <p:nvSpPr>
          <p:cNvPr id="23" name="Text 21"/>
          <p:cNvSpPr/>
          <p:nvPr/>
        </p:nvSpPr>
        <p:spPr>
          <a:xfrm>
            <a:off x="3662680" y="5260023"/>
            <a:ext cx="2265629" cy="424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85"/>
              </a:lnSpc>
              <a:buNone/>
            </a:pPr>
            <a:r>
              <a:rPr lang="en-US" sz="1133" dirty="0">
                <a:solidFill>
                  <a:srgbClr val="B8C4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 labels to Klaviyo or Salesforce</a:t>
            </a:r>
            <a:endParaRPr lang="en-US" sz="1133" dirty="0"/>
          </a:p>
        </p:txBody>
      </p:sp>
      <p:sp>
        <p:nvSpPr>
          <p:cNvPr id="24" name="Shape 22"/>
          <p:cNvSpPr/>
          <p:nvPr/>
        </p:nvSpPr>
        <p:spPr>
          <a:xfrm>
            <a:off x="6149975" y="4523504"/>
            <a:ext cx="2559050" cy="1315323"/>
          </a:xfrm>
          <a:prstGeom prst="roundRect">
            <a:avLst>
              <a:gd name="adj" fmla="val 7483"/>
            </a:avLst>
          </a:prstGeom>
          <a:solidFill>
            <a:srgbClr val="18283F"/>
          </a:solidFill>
          <a:ln w="6350">
            <a:solidFill>
              <a:srgbClr val="2B3D5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29680" y="4703207"/>
            <a:ext cx="2265629" cy="2249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121" b="1" dirty="0">
                <a:solidFill>
                  <a:srgbClr val="3FD0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3</a:t>
            </a:r>
            <a:endParaRPr lang="en-US" sz="1121" dirty="0"/>
          </a:p>
        </p:txBody>
      </p:sp>
      <p:sp>
        <p:nvSpPr>
          <p:cNvPr id="26" name="Text 24"/>
          <p:cNvSpPr/>
          <p:nvPr/>
        </p:nvSpPr>
        <p:spPr>
          <a:xfrm>
            <a:off x="6329680" y="4978955"/>
            <a:ext cx="2265629" cy="230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3"/>
              </a:lnSpc>
              <a:buNone/>
            </a:pPr>
            <a:r>
              <a:rPr lang="en-US" sz="1411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A/B test</a:t>
            </a:r>
            <a:endParaRPr lang="en-US" sz="1411" dirty="0"/>
          </a:p>
        </p:txBody>
      </p:sp>
      <p:sp>
        <p:nvSpPr>
          <p:cNvPr id="27" name="Text 25"/>
          <p:cNvSpPr/>
          <p:nvPr/>
        </p:nvSpPr>
        <p:spPr>
          <a:xfrm>
            <a:off x="6329680" y="5260023"/>
            <a:ext cx="2265629" cy="424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85"/>
              </a:lnSpc>
              <a:buNone/>
            </a:pPr>
            <a:r>
              <a:rPr lang="en-US" sz="1133" dirty="0">
                <a:solidFill>
                  <a:srgbClr val="B8C4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Targeted vs generic; track lift, LTV, CAC</a:t>
            </a:r>
            <a:endParaRPr lang="en-US" sz="1133" dirty="0"/>
          </a:p>
        </p:txBody>
      </p:sp>
      <p:sp>
        <p:nvSpPr>
          <p:cNvPr id="28" name="Shape 26"/>
          <p:cNvSpPr/>
          <p:nvPr/>
        </p:nvSpPr>
        <p:spPr>
          <a:xfrm>
            <a:off x="8816975" y="4523504"/>
            <a:ext cx="2559050" cy="1315323"/>
          </a:xfrm>
          <a:prstGeom prst="roundRect">
            <a:avLst>
              <a:gd name="adj" fmla="val 7483"/>
            </a:avLst>
          </a:prstGeom>
          <a:solidFill>
            <a:srgbClr val="18283F"/>
          </a:solidFill>
          <a:ln w="6350">
            <a:solidFill>
              <a:srgbClr val="2B3D5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96680" y="4703207"/>
            <a:ext cx="226562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FD0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996680" y="4992768"/>
            <a:ext cx="2265629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996680" y="5288043"/>
            <a:ext cx="226562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4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Re-cluster quarterly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4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SmartCart Customer Segmentation | 7 / 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Cart Customer Segmentation — Portfolio Deck">
  <a:themeElements>
    <a:clrScheme name="SmartCart Customer Segmentation — Portfolio Deck">
      <a:dk1>
        <a:srgbClr val="0F1B2D"/>
      </a:dk1>
      <a:lt1>
        <a:srgbClr val="F6F4EE"/>
      </a:lt1>
      <a:dk2>
        <a:srgbClr val="49515D"/>
      </a:dk2>
      <a:lt2>
        <a:srgbClr val="DFDEDB"/>
      </a:lt2>
      <a:accent1>
        <a:srgbClr val="3FD0BD"/>
      </a:accent1>
      <a:accent2>
        <a:srgbClr val="0B7A6D"/>
      </a:accent2>
      <a:accent3>
        <a:srgbClr val="D64545"/>
      </a:accent3>
      <a:accent4>
        <a:srgbClr val="2F6FD6"/>
      </a:accent4>
      <a:accent5>
        <a:srgbClr val="E0A100"/>
      </a:accent5>
      <a:accent6>
        <a:srgbClr val="2E9E5B"/>
      </a:accent6>
      <a:hlink>
        <a:srgbClr val="0563C1"/>
      </a:hlink>
      <a:folHlink>
        <a:srgbClr val="954F72"/>
      </a:folHlink>
    </a:clrScheme>
    <a:fontScheme name="SmartCart Customer Segmentation — Portfolio Deck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SmartCart Customer Segmentation — Portfolio Deck</dc:title>
  <dc:subject/>
  <dc:creator/>
  <cp:lastModifiedBy/>
  <cp:revision>1</cp:revision>
  <dcterms:created xsi:type="dcterms:W3CDTF">2026-10-10T06:41:06Z</dcterms:created>
  <dcterms:modified xsi:type="dcterms:W3CDTF">2026-10-10T06:41:06Z</dcterms:modified>
</cp:coreProperties>
</file>